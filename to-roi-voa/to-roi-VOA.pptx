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Thăng Long Quốc T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20" y="403175"/>
            <a:ext cx="590510" cy="584299"/>
          </a:xfrm>
          <a:prstGeom prst="rect">
            <a:avLst/>
          </a:prstGeom>
        </p:spPr>
      </p:pic>
      <p:pic>
        <p:nvPicPr>
          <p:cNvPr id="3" name="Image 1" descr="Allge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466867"/>
            <a:ext cx="1217861" cy="514316"/>
          </a:xfrm>
          <a:prstGeom prst="rect">
            <a:avLst/>
          </a:prstGeom>
        </p:spPr>
      </p:pic>
      <p:pic>
        <p:nvPicPr>
          <p:cNvPr id="4" name="Image 2" descr="F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021" y="1590689"/>
            <a:ext cx="671810" cy="266673"/>
          </a:xfrm>
          <a:prstGeom prst="rect">
            <a:avLst/>
          </a:prstGeom>
        </p:spPr>
      </p:pic>
      <p:pic>
        <p:nvPicPr>
          <p:cNvPr id="5" name="Image 3" descr="IS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081" y="1590695"/>
            <a:ext cx="645319" cy="266661"/>
          </a:xfrm>
          <a:prstGeom prst="rect">
            <a:avLst/>
          </a:prstGeom>
        </p:spPr>
      </p:pic>
      <p:pic>
        <p:nvPicPr>
          <p:cNvPr id="6" name="Image 4" descr="BonGo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313" y="4064198"/>
            <a:ext cx="1371600" cy="342900"/>
          </a:xfrm>
          <a:prstGeom prst="rect">
            <a:avLst/>
          </a:prstGeom>
        </p:spPr>
      </p:pic>
      <p:pic>
        <p:nvPicPr>
          <p:cNvPr id="7" name="Image 5" descr="fsh_4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182" y="4791605"/>
            <a:ext cx="3513860" cy="1497789"/>
          </a:xfrm>
          <a:prstGeom prst="rect">
            <a:avLst/>
          </a:prstGeom>
        </p:spPr>
      </p:pic>
      <p:pic>
        <p:nvPicPr>
          <p:cNvPr id="8" name="Image 6" descr="Skulhe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5929" y="4064211"/>
            <a:ext cx="1407468" cy="342875"/>
          </a:xfrm>
          <a:prstGeom prst="rect">
            <a:avLst/>
          </a:prstGeom>
        </p:spPr>
      </p:pic>
      <p:pic>
        <p:nvPicPr>
          <p:cNvPr id="9" name="Image 7" descr="fsh_3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7597" y="4821422"/>
            <a:ext cx="3484280" cy="1438304"/>
          </a:xfrm>
          <a:prstGeom prst="rect">
            <a:avLst/>
          </a:prstGeom>
        </p:spPr>
      </p:pic>
      <p:sp>
        <p:nvSpPr>
          <p:cNvPr id="10" name="Text 0"/>
          <p:cNvSpPr txBox="1"/>
          <p:nvPr/>
        </p:nvSpPr>
        <p:spPr>
          <a:xfrm>
            <a:off x="1276350" y="450723"/>
            <a:ext cx="5183746" cy="279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25" b="1" spc="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Y KHOA </a:t>
            </a:r>
            <a:pPr algn="l" indent="0" marL="0">
              <a:buNone/>
            </a:pPr>
            <a:r>
              <a:rPr lang="en-US" sz="1725" b="1" spc="38" kern="0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THĂNG LONG QUỐC TẾ</a:t>
            </a:r>
            <a:endParaRPr lang="en-US" sz="1725" dirty="0"/>
          </a:p>
        </p:txBody>
      </p:sp>
      <p:sp>
        <p:nvSpPr>
          <p:cNvPr id="11" name="Text 1"/>
          <p:cNvSpPr txBox="1"/>
          <p:nvPr/>
        </p:nvSpPr>
        <p:spPr>
          <a:xfrm>
            <a:off x="1276350" y="735336"/>
            <a:ext cx="5183746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công nghệ, Kiến tạo giá trị</a:t>
            </a:r>
            <a:endParaRPr lang="en-US" sz="1200" dirty="0"/>
          </a:p>
        </p:txBody>
      </p:sp>
      <p:sp>
        <p:nvSpPr>
          <p:cNvPr id="12" name="Text 2"/>
          <p:cNvSpPr txBox="1"/>
          <p:nvPr/>
        </p:nvSpPr>
        <p:spPr>
          <a:xfrm>
            <a:off x="-95060" y="2311908"/>
            <a:ext cx="7752969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spc="165" kern="0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LIỆU XƯƠNG SINH HỌC</a:t>
            </a:r>
            <a:endParaRPr lang="en-US" sz="1088" dirty="0"/>
          </a:p>
        </p:txBody>
      </p:sp>
      <p:sp>
        <p:nvSpPr>
          <p:cNvPr id="13" name="Text 3"/>
          <p:cNvSpPr txBox="1"/>
          <p:nvPr/>
        </p:nvSpPr>
        <p:spPr>
          <a:xfrm>
            <a:off x="-95060" y="2500360"/>
            <a:ext cx="7752969" cy="482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COLLAGEN </a:t>
            </a:r>
            <a:pPr algn="ctr" indent="0" marL="0">
              <a:buNone/>
            </a:pPr>
            <a:r>
              <a:rPr lang="en-US" sz="285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KHOÁNG HÓA</a:t>
            </a:r>
            <a:endParaRPr lang="en-US" sz="2850" dirty="0"/>
          </a:p>
        </p:txBody>
      </p:sp>
      <p:sp>
        <p:nvSpPr>
          <p:cNvPr id="14" name="Text 4"/>
          <p:cNvSpPr txBox="1"/>
          <p:nvPr/>
        </p:nvSpPr>
        <p:spPr>
          <a:xfrm>
            <a:off x="2564755" y="3083885"/>
            <a:ext cx="312131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Đạt chứng nhận </a:t>
            </a:r>
            <a:pPr algn="l" indent="0" marL="0">
              <a:buNone/>
            </a:pPr>
            <a:r>
              <a:rPr lang="en-US" sz="1575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Hoa Kỳ</a:t>
            </a:r>
            <a:endParaRPr lang="en-US" sz="1575" dirty="0"/>
          </a:p>
        </p:txBody>
      </p:sp>
      <p:sp>
        <p:nvSpPr>
          <p:cNvPr id="15" name="Text 5"/>
          <p:cNvSpPr txBox="1"/>
          <p:nvPr/>
        </p:nvSpPr>
        <p:spPr>
          <a:xfrm>
            <a:off x="2230785" y="3388685"/>
            <a:ext cx="388276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đồng cao với </a:t>
            </a:r>
            <a:pPr algn="l" indent="0" marL="0">
              <a:buNone/>
            </a:pPr>
            <a:r>
              <a:rPr lang="en-US" sz="1575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xương tự thân</a:t>
            </a:r>
            <a:endParaRPr lang="en-US" sz="1575" dirty="0"/>
          </a:p>
        </p:txBody>
      </p:sp>
      <p:sp>
        <p:nvSpPr>
          <p:cNvPr id="16" name="Text 6"/>
          <p:cNvSpPr txBox="1"/>
          <p:nvPr/>
        </p:nvSpPr>
        <p:spPr>
          <a:xfrm>
            <a:off x="898569" y="6562796"/>
            <a:ext cx="2288938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Chấn thương chỉnh hình</a:t>
            </a:r>
            <a:endParaRPr lang="en-US" sz="1350" dirty="0"/>
          </a:p>
        </p:txBody>
      </p:sp>
      <p:sp>
        <p:nvSpPr>
          <p:cNvPr id="17" name="Text 7"/>
          <p:cNvSpPr txBox="1"/>
          <p:nvPr/>
        </p:nvSpPr>
        <p:spPr>
          <a:xfrm>
            <a:off x="944887" y="6788134"/>
            <a:ext cx="2196301" cy="417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Lấp đầy khuyết xương, kết hợp</a:t>
            </a:r>
            <a:endParaRPr lang="en-US" sz="1013" dirty="0"/>
          </a:p>
          <a:p>
            <a:pPr algn="ctr" indent="0" marL="0">
              <a:buNone/>
            </a:pPr>
            <a:r>
              <a:rPr lang="en-US" sz="101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mảnh ghép xương tự thân</a:t>
            </a:r>
            <a:endParaRPr lang="en-US" sz="1013" dirty="0"/>
          </a:p>
        </p:txBody>
      </p:sp>
      <p:sp>
        <p:nvSpPr>
          <p:cNvPr id="18" name="Text 8"/>
          <p:cNvSpPr txBox="1"/>
          <p:nvPr/>
        </p:nvSpPr>
        <p:spPr>
          <a:xfrm>
            <a:off x="4786789" y="6562796"/>
            <a:ext cx="1465898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Ngoại thần kinh</a:t>
            </a:r>
            <a:endParaRPr lang="en-US" sz="1350" dirty="0"/>
          </a:p>
        </p:txBody>
      </p:sp>
      <p:sp>
        <p:nvSpPr>
          <p:cNvPr id="19" name="Text 9"/>
          <p:cNvSpPr txBox="1"/>
          <p:nvPr/>
        </p:nvSpPr>
        <p:spPr>
          <a:xfrm>
            <a:off x="4855852" y="6788134"/>
            <a:ext cx="1327621" cy="417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tạo và phục hồi</a:t>
            </a:r>
            <a:endParaRPr lang="en-US" sz="1013" dirty="0"/>
          </a:p>
          <a:p>
            <a:pPr algn="ctr" indent="0" marL="0">
              <a:buNone/>
            </a:pPr>
            <a:r>
              <a:rPr lang="en-US" sz="101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khuyết xương sọ</a:t>
            </a:r>
            <a:endParaRPr lang="en-US" sz="1013" dirty="0"/>
          </a:p>
        </p:txBody>
      </p:sp>
      <p:sp>
        <p:nvSpPr>
          <p:cNvPr id="20" name="Text 10"/>
          <p:cNvSpPr txBox="1"/>
          <p:nvPr/>
        </p:nvSpPr>
        <p:spPr>
          <a:xfrm>
            <a:off x="311277" y="7651980"/>
            <a:ext cx="1911096" cy="29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: 55</a:t>
            </a:r>
            <a:endParaRPr lang="en-US" sz="1800" dirty="0"/>
          </a:p>
        </p:txBody>
      </p:sp>
      <p:sp>
        <p:nvSpPr>
          <p:cNvPr id="21" name="Text 11"/>
          <p:cNvSpPr txBox="1"/>
          <p:nvPr/>
        </p:nvSpPr>
        <p:spPr>
          <a:xfrm>
            <a:off x="311277" y="7942892"/>
            <a:ext cx="191109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Collagen I : nano-HA</a:t>
            </a:r>
            <a:endParaRPr lang="en-US" sz="863" dirty="0"/>
          </a:p>
        </p:txBody>
      </p:sp>
      <p:sp>
        <p:nvSpPr>
          <p:cNvPr id="22" name="Text 12"/>
          <p:cNvSpPr txBox="1"/>
          <p:nvPr/>
        </p:nvSpPr>
        <p:spPr>
          <a:xfrm>
            <a:off x="1997869" y="7651980"/>
            <a:ext cx="1900238" cy="29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70–80%</a:t>
            </a:r>
            <a:endParaRPr lang="en-US" sz="1800" dirty="0"/>
          </a:p>
        </p:txBody>
      </p:sp>
      <p:sp>
        <p:nvSpPr>
          <p:cNvPr id="23" name="Text 13"/>
          <p:cNvSpPr txBox="1"/>
          <p:nvPr/>
        </p:nvSpPr>
        <p:spPr>
          <a:xfrm>
            <a:off x="1997869" y="7942892"/>
            <a:ext cx="190023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xốp</a:t>
            </a:r>
            <a:endParaRPr lang="en-US" sz="863" dirty="0"/>
          </a:p>
        </p:txBody>
      </p:sp>
      <p:sp>
        <p:nvSpPr>
          <p:cNvPr id="24" name="Text 14"/>
          <p:cNvSpPr txBox="1"/>
          <p:nvPr/>
        </p:nvSpPr>
        <p:spPr>
          <a:xfrm>
            <a:off x="3674269" y="7651980"/>
            <a:ext cx="1900238" cy="29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200–400 µm</a:t>
            </a:r>
            <a:endParaRPr lang="en-US" sz="1800" dirty="0"/>
          </a:p>
        </p:txBody>
      </p:sp>
      <p:sp>
        <p:nvSpPr>
          <p:cNvPr id="25" name="Text 15"/>
          <p:cNvSpPr txBox="1"/>
          <p:nvPr/>
        </p:nvSpPr>
        <p:spPr>
          <a:xfrm>
            <a:off x="3674269" y="7942892"/>
            <a:ext cx="190023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thước lỗ</a:t>
            </a:r>
            <a:endParaRPr lang="en-US" sz="863" dirty="0"/>
          </a:p>
        </p:txBody>
      </p:sp>
      <p:sp>
        <p:nvSpPr>
          <p:cNvPr id="26" name="Text 16"/>
          <p:cNvSpPr txBox="1"/>
          <p:nvPr/>
        </p:nvSpPr>
        <p:spPr>
          <a:xfrm>
            <a:off x="5350669" y="7651980"/>
            <a:ext cx="1900238" cy="291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&gt;200.000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5350669" y="7942892"/>
            <a:ext cx="1900238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lâm sàng</a:t>
            </a:r>
            <a:endParaRPr lang="en-US" sz="863" dirty="0"/>
          </a:p>
        </p:txBody>
      </p:sp>
      <p:sp>
        <p:nvSpPr>
          <p:cNvPr id="28" name="Text 18"/>
          <p:cNvSpPr txBox="1"/>
          <p:nvPr/>
        </p:nvSpPr>
        <p:spPr>
          <a:xfrm>
            <a:off x="381000" y="8462957"/>
            <a:ext cx="7752969" cy="187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ĐIỂM NỔI BẬT</a:t>
            </a:r>
            <a:endParaRPr lang="en-US" sz="1125" dirty="0"/>
          </a:p>
        </p:txBody>
      </p:sp>
      <p:sp>
        <p:nvSpPr>
          <p:cNvPr id="29" name="Text 19"/>
          <p:cNvSpPr txBox="1"/>
          <p:nvPr/>
        </p:nvSpPr>
        <p:spPr>
          <a:xfrm>
            <a:off x="638175" y="8737229"/>
            <a:ext cx="3366474" cy="21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phỏng cấu trúc nano của xương tự nhiên</a:t>
            </a:r>
            <a:endParaRPr lang="en-US" sz="1088" dirty="0"/>
          </a:p>
        </p:txBody>
      </p:sp>
      <p:sp>
        <p:nvSpPr>
          <p:cNvPr id="30" name="Text 20"/>
          <p:cNvSpPr txBox="1"/>
          <p:nvPr/>
        </p:nvSpPr>
        <p:spPr>
          <a:xfrm>
            <a:off x="4124325" y="8737229"/>
            <a:ext cx="3465388" cy="21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biến dần, được thay thế bằng xương mới</a:t>
            </a:r>
            <a:endParaRPr lang="en-US" sz="1088" dirty="0"/>
          </a:p>
        </p:txBody>
      </p:sp>
      <p:sp>
        <p:nvSpPr>
          <p:cNvPr id="31" name="Text 21"/>
          <p:cNvSpPr txBox="1"/>
          <p:nvPr/>
        </p:nvSpPr>
        <p:spPr>
          <a:xfrm>
            <a:off x="638175" y="9056912"/>
            <a:ext cx="3070241" cy="21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tạo hình, thao tác thuận tiện trong mổ</a:t>
            </a:r>
            <a:endParaRPr lang="en-US" sz="1088" dirty="0"/>
          </a:p>
        </p:txBody>
      </p:sp>
      <p:sp>
        <p:nvSpPr>
          <p:cNvPr id="32" name="Text 22"/>
          <p:cNvSpPr txBox="1"/>
          <p:nvPr/>
        </p:nvSpPr>
        <p:spPr>
          <a:xfrm>
            <a:off x="4124325" y="9056912"/>
            <a:ext cx="3333051" cy="216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bản quyền từ Đại học Thanh Hoa</a:t>
            </a:r>
            <a:endParaRPr lang="en-US" sz="1088" dirty="0"/>
          </a:p>
        </p:txBody>
      </p:sp>
      <p:sp>
        <p:nvSpPr>
          <p:cNvPr id="33" name="Text 23"/>
          <p:cNvSpPr txBox="1"/>
          <p:nvPr/>
        </p:nvSpPr>
        <p:spPr>
          <a:xfrm>
            <a:off x="381000" y="10257663"/>
            <a:ext cx="2018833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Hotline </a:t>
            </a:r>
            <a:pPr algn="l" indent="0" marL="0">
              <a:buNone/>
            </a:pPr>
            <a:r>
              <a:rPr lang="en-US" sz="1050" b="1" dirty="0">
                <a:solidFill>
                  <a:srgbClr val="0F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0916 899 322</a:t>
            </a:r>
            <a:endParaRPr lang="en-US" sz="1050" dirty="0"/>
          </a:p>
        </p:txBody>
      </p:sp>
      <p:sp>
        <p:nvSpPr>
          <p:cNvPr id="34" name="Text 24"/>
          <p:cNvSpPr txBox="1"/>
          <p:nvPr/>
        </p:nvSpPr>
        <p:spPr>
          <a:xfrm>
            <a:off x="4673798" y="10318432"/>
            <a:ext cx="2859179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0F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CỘT SỐNG Ở MẶT SAU →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rex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95420"/>
            <a:ext cx="1127671" cy="285735"/>
          </a:xfrm>
          <a:prstGeom prst="rect">
            <a:avLst/>
          </a:prstGeom>
        </p:spPr>
      </p:pic>
      <p:pic>
        <p:nvPicPr>
          <p:cNvPr id="3" name="Image 1" descr="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021" y="1433546"/>
            <a:ext cx="295424" cy="209482"/>
          </a:xfrm>
          <a:prstGeom prst="rect">
            <a:avLst/>
          </a:prstGeom>
        </p:spPr>
      </p:pic>
      <p:pic>
        <p:nvPicPr>
          <p:cNvPr id="4" name="Image 2" descr="F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645" y="1433515"/>
            <a:ext cx="527893" cy="209545"/>
          </a:xfrm>
          <a:prstGeom prst="rect">
            <a:avLst/>
          </a:prstGeom>
        </p:spPr>
      </p:pic>
      <p:pic>
        <p:nvPicPr>
          <p:cNvPr id="5" name="Image 3" descr="CUVIS Spi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420" y="1414477"/>
            <a:ext cx="1085255" cy="247621"/>
          </a:xfrm>
          <a:prstGeom prst="rect">
            <a:avLst/>
          </a:prstGeom>
        </p:spPr>
      </p:pic>
      <p:pic>
        <p:nvPicPr>
          <p:cNvPr id="6" name="Image 4" descr="Robot CUVIS Spi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513" y="1656100"/>
            <a:ext cx="4413964" cy="4069675"/>
          </a:xfrm>
          <a:prstGeom prst="rect">
            <a:avLst/>
          </a:prstGeom>
        </p:spPr>
      </p:pic>
      <p:pic>
        <p:nvPicPr>
          <p:cNvPr id="7" name="Image 5" descr="Mantiz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6402586"/>
            <a:ext cx="1085850" cy="266700"/>
          </a:xfrm>
          <a:prstGeom prst="rect">
            <a:avLst/>
          </a:prstGeom>
        </p:spPr>
      </p:pic>
      <p:pic>
        <p:nvPicPr>
          <p:cNvPr id="8" name="Image 6" descr="ISO 1348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121" y="6383543"/>
            <a:ext cx="283369" cy="304786"/>
          </a:xfrm>
          <a:prstGeom prst="rect">
            <a:avLst/>
          </a:prstGeom>
        </p:spPr>
      </p:pic>
      <p:pic>
        <p:nvPicPr>
          <p:cNvPr id="9" name="Image 7" descr="GM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2639" y="6383582"/>
            <a:ext cx="370136" cy="304708"/>
          </a:xfrm>
          <a:prstGeom prst="rect">
            <a:avLst/>
          </a:prstGeom>
        </p:spPr>
      </p:pic>
      <p:pic>
        <p:nvPicPr>
          <p:cNvPr id="10" name="Image 8" descr="2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960" y="7025134"/>
            <a:ext cx="707034" cy="526405"/>
          </a:xfrm>
          <a:prstGeom prst="rect">
            <a:avLst/>
          </a:prstGeom>
        </p:spPr>
      </p:pic>
      <p:pic>
        <p:nvPicPr>
          <p:cNvPr id="11" name="Image 9" descr="2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2151" y="7016204"/>
            <a:ext cx="706918" cy="544264"/>
          </a:xfrm>
          <a:prstGeom prst="rect">
            <a:avLst/>
          </a:prstGeom>
        </p:spPr>
      </p:pic>
      <p:pic>
        <p:nvPicPr>
          <p:cNvPr id="12" name="Image 10" descr="2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8538" y="6980634"/>
            <a:ext cx="707054" cy="615553"/>
          </a:xfrm>
          <a:prstGeom prst="rect">
            <a:avLst/>
          </a:prstGeom>
        </p:spPr>
      </p:pic>
      <p:pic>
        <p:nvPicPr>
          <p:cNvPr id="13" name="Image 11" descr="29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64671" y="6991052"/>
            <a:ext cx="707053" cy="594717"/>
          </a:xfrm>
          <a:prstGeom prst="rect">
            <a:avLst/>
          </a:prstGeom>
        </p:spPr>
      </p:pic>
      <p:pic>
        <p:nvPicPr>
          <p:cNvPr id="14" name="Image 12" descr="3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6148" y="6869311"/>
            <a:ext cx="763142" cy="838051"/>
          </a:xfrm>
          <a:prstGeom prst="rect">
            <a:avLst/>
          </a:prstGeom>
        </p:spPr>
      </p:pic>
      <p:pic>
        <p:nvPicPr>
          <p:cNvPr id="15" name="Image 13" descr="3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88712" y="6869311"/>
            <a:ext cx="1143188" cy="838051"/>
          </a:xfrm>
          <a:prstGeom prst="rect">
            <a:avLst/>
          </a:prstGeom>
        </p:spPr>
      </p:pic>
      <p:pic>
        <p:nvPicPr>
          <p:cNvPr id="16" name="Image 14" descr="QR Facebook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5700" y="9386888"/>
            <a:ext cx="800100" cy="800100"/>
          </a:xfrm>
          <a:prstGeom prst="rect">
            <a:avLst/>
          </a:prstGeom>
        </p:spPr>
      </p:pic>
      <p:pic>
        <p:nvPicPr>
          <p:cNvPr id="17" name="Image 15" descr="QR Zal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1050" y="9386888"/>
            <a:ext cx="800100" cy="800100"/>
          </a:xfrm>
          <a:prstGeom prst="rect">
            <a:avLst/>
          </a:prstGeom>
        </p:spPr>
      </p:pic>
      <p:pic>
        <p:nvPicPr>
          <p:cNvPr id="18" name="Image 16" descr="QR TikTok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86400" y="9386888"/>
            <a:ext cx="800100" cy="800100"/>
          </a:xfrm>
          <a:prstGeom prst="rect">
            <a:avLst/>
          </a:prstGeom>
        </p:spPr>
      </p:pic>
      <p:pic>
        <p:nvPicPr>
          <p:cNvPr id="19" name="Image 17" descr="QR Instagram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81750" y="9386888"/>
            <a:ext cx="800100" cy="800100"/>
          </a:xfrm>
          <a:prstGeom prst="rect">
            <a:avLst/>
          </a:prstGeom>
        </p:spPr>
      </p:pic>
      <p:pic>
        <p:nvPicPr>
          <p:cNvPr id="20" name="Image 18" descr="Callout lines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21" name="Text 0"/>
          <p:cNvSpPr txBox="1"/>
          <p:nvPr/>
        </p:nvSpPr>
        <p:spPr>
          <a:xfrm>
            <a:off x="-95060" y="541020"/>
            <a:ext cx="7752969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spc="225" kern="0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TÍCH HỢP CHO</a:t>
            </a:r>
            <a:endParaRPr lang="en-US" sz="975" dirty="0"/>
          </a:p>
        </p:txBody>
      </p:sp>
      <p:sp>
        <p:nvSpPr>
          <p:cNvPr id="22" name="Text 1"/>
          <p:cNvSpPr txBox="1"/>
          <p:nvPr/>
        </p:nvSpPr>
        <p:spPr>
          <a:xfrm>
            <a:off x="-95060" y="716661"/>
            <a:ext cx="7752969" cy="38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PHẪU THUẬT </a:t>
            </a:r>
            <a:pPr algn="ctr" indent="0" marL="0">
              <a:buNone/>
            </a:pPr>
            <a:r>
              <a:rPr lang="en-US" sz="2250" b="1" dirty="0">
                <a:solidFill>
                  <a:srgbClr val="8ED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SỐNG</a:t>
            </a:r>
            <a:endParaRPr lang="en-US" sz="2250" dirty="0"/>
          </a:p>
        </p:txBody>
      </p:sp>
      <p:sp>
        <p:nvSpPr>
          <p:cNvPr id="23" name="Text 2"/>
          <p:cNvSpPr txBox="1"/>
          <p:nvPr/>
        </p:nvSpPr>
        <p:spPr>
          <a:xfrm>
            <a:off x="5228034" y="1985200"/>
            <a:ext cx="247650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3"/>
          <p:cNvSpPr txBox="1"/>
          <p:nvPr/>
        </p:nvSpPr>
        <p:spPr>
          <a:xfrm>
            <a:off x="5551884" y="2039410"/>
            <a:ext cx="1554123" cy="17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phơi nhiễm tia X</a:t>
            </a:r>
            <a:endParaRPr lang="en-US" sz="1013" dirty="0"/>
          </a:p>
        </p:txBody>
      </p:sp>
      <p:sp>
        <p:nvSpPr>
          <p:cNvPr id="25" name="Text 4"/>
          <p:cNvSpPr txBox="1"/>
          <p:nvPr/>
        </p:nvSpPr>
        <p:spPr>
          <a:xfrm>
            <a:off x="5533579" y="2861501"/>
            <a:ext cx="247650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5"/>
          <p:cNvSpPr txBox="1"/>
          <p:nvPr/>
        </p:nvSpPr>
        <p:spPr>
          <a:xfrm>
            <a:off x="5857429" y="2915710"/>
            <a:ext cx="1205802" cy="17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chính xác cao</a:t>
            </a:r>
            <a:endParaRPr lang="en-US" sz="1013" dirty="0"/>
          </a:p>
        </p:txBody>
      </p:sp>
      <p:sp>
        <p:nvSpPr>
          <p:cNvPr id="27" name="Text 6"/>
          <p:cNvSpPr txBox="1"/>
          <p:nvPr/>
        </p:nvSpPr>
        <p:spPr>
          <a:xfrm>
            <a:off x="590550" y="3272861"/>
            <a:ext cx="247650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7"/>
          <p:cNvSpPr txBox="1"/>
          <p:nvPr/>
        </p:nvSpPr>
        <p:spPr>
          <a:xfrm>
            <a:off x="914400" y="3237643"/>
            <a:ext cx="1417034" cy="35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hóa</a:t>
            </a:r>
            <a:endParaRPr lang="en-US" sz="1013" dirty="0"/>
          </a:p>
          <a:p>
            <a:pPr algn="l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phẫu thuật</a:t>
            </a:r>
            <a:endParaRPr lang="en-US" sz="1013" dirty="0"/>
          </a:p>
        </p:txBody>
      </p:sp>
      <p:sp>
        <p:nvSpPr>
          <p:cNvPr id="29" name="Text 8"/>
          <p:cNvSpPr txBox="1"/>
          <p:nvPr/>
        </p:nvSpPr>
        <p:spPr>
          <a:xfrm>
            <a:off x="67818" y="5567220"/>
            <a:ext cx="7427214" cy="416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định vị và dẫn đường đặt vít cuống sống: cánh tay robot độ chính xác cao,</a:t>
            </a:r>
            <a:endParaRPr lang="en-US" sz="975" dirty="0"/>
          </a:p>
          <a:p>
            <a:pPr algn="ctr" indent="0" marL="0">
              <a:buNone/>
            </a:pPr>
            <a:r>
              <a:rPr lang="en-US" sz="975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biến theo dõi thời gian thực, dụng cụ phẫu thuật một bước.</a:t>
            </a:r>
            <a:endParaRPr lang="en-US" sz="975" dirty="0"/>
          </a:p>
        </p:txBody>
      </p:sp>
      <p:sp>
        <p:nvSpPr>
          <p:cNvPr id="30" name="Text 9"/>
          <p:cNvSpPr txBox="1"/>
          <p:nvPr/>
        </p:nvSpPr>
        <p:spPr>
          <a:xfrm>
            <a:off x="927766" y="7818632"/>
            <a:ext cx="749406" cy="18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PANTHER</a:t>
            </a:r>
            <a:endParaRPr lang="en-US" sz="1088" dirty="0"/>
          </a:p>
        </p:txBody>
      </p:sp>
      <p:sp>
        <p:nvSpPr>
          <p:cNvPr id="31" name="Text 10"/>
          <p:cNvSpPr txBox="1"/>
          <p:nvPr/>
        </p:nvSpPr>
        <p:spPr>
          <a:xfrm>
            <a:off x="691933" y="8016853"/>
            <a:ext cx="1221072" cy="165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Lồng thắt lưng in 3D</a:t>
            </a:r>
            <a:endParaRPr lang="en-US" sz="863" dirty="0"/>
          </a:p>
        </p:txBody>
      </p:sp>
      <p:sp>
        <p:nvSpPr>
          <p:cNvPr id="32" name="Text 11"/>
          <p:cNvSpPr txBox="1"/>
          <p:nvPr/>
        </p:nvSpPr>
        <p:spPr>
          <a:xfrm>
            <a:off x="2688250" y="7818632"/>
            <a:ext cx="533763" cy="18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PETRA</a:t>
            </a:r>
            <a:endParaRPr lang="en-US" sz="1088" dirty="0"/>
          </a:p>
        </p:txBody>
      </p:sp>
      <p:sp>
        <p:nvSpPr>
          <p:cNvPr id="33" name="Text 12"/>
          <p:cNvSpPr txBox="1"/>
          <p:nvPr/>
        </p:nvSpPr>
        <p:spPr>
          <a:xfrm>
            <a:off x="2542339" y="8016853"/>
            <a:ext cx="825585" cy="165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Lồng cổ in 3D</a:t>
            </a:r>
            <a:endParaRPr lang="en-US" sz="863" dirty="0"/>
          </a:p>
        </p:txBody>
      </p:sp>
      <p:sp>
        <p:nvSpPr>
          <p:cNvPr id="34" name="Text 13"/>
          <p:cNvSpPr txBox="1"/>
          <p:nvPr/>
        </p:nvSpPr>
        <p:spPr>
          <a:xfrm>
            <a:off x="4224278" y="7818632"/>
            <a:ext cx="766882" cy="18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</a:t>
            </a:r>
            <a:endParaRPr lang="en-US" sz="1088" dirty="0"/>
          </a:p>
        </p:txBody>
      </p:sp>
      <p:sp>
        <p:nvSpPr>
          <p:cNvPr id="35" name="Text 14"/>
          <p:cNvSpPr txBox="1"/>
          <p:nvPr/>
        </p:nvSpPr>
        <p:spPr>
          <a:xfrm>
            <a:off x="4156752" y="8016853"/>
            <a:ext cx="901934" cy="165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Vít cuống sống</a:t>
            </a:r>
            <a:endParaRPr lang="en-US" sz="863" dirty="0"/>
          </a:p>
        </p:txBody>
      </p:sp>
      <p:sp>
        <p:nvSpPr>
          <p:cNvPr id="36" name="Text 15"/>
          <p:cNvSpPr txBox="1"/>
          <p:nvPr/>
        </p:nvSpPr>
        <p:spPr>
          <a:xfrm>
            <a:off x="5518206" y="7818632"/>
            <a:ext cx="1484052" cy="18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GADGET</a:t>
            </a:r>
            <a:endParaRPr lang="en-US" sz="1088" dirty="0"/>
          </a:p>
        </p:txBody>
      </p:sp>
      <p:sp>
        <p:nvSpPr>
          <p:cNvPr id="37" name="Text 16"/>
          <p:cNvSpPr txBox="1"/>
          <p:nvPr/>
        </p:nvSpPr>
        <p:spPr>
          <a:xfrm>
            <a:off x="5656482" y="8016853"/>
            <a:ext cx="1207499" cy="165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3" dirty="0">
                <a:solidFill>
                  <a:srgbClr val="C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Vít qua da ít xâm lấn</a:t>
            </a:r>
            <a:endParaRPr lang="en-US" sz="863" dirty="0"/>
          </a:p>
        </p:txBody>
      </p:sp>
      <p:sp>
        <p:nvSpPr>
          <p:cNvPr id="38" name="Text 17"/>
          <p:cNvSpPr txBox="1"/>
          <p:nvPr/>
        </p:nvSpPr>
        <p:spPr>
          <a:xfrm>
            <a:off x="523875" y="8253573"/>
            <a:ext cx="119553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spc="75" kern="0" dirty="0">
                <a:solidFill>
                  <a:srgbClr val="0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IN 3D</a:t>
            </a:r>
            <a:endParaRPr lang="en-US" sz="788" dirty="0"/>
          </a:p>
        </p:txBody>
      </p:sp>
      <p:sp>
        <p:nvSpPr>
          <p:cNvPr id="39" name="Text 18"/>
          <p:cNvSpPr txBox="1"/>
          <p:nvPr/>
        </p:nvSpPr>
        <p:spPr>
          <a:xfrm>
            <a:off x="1814661" y="8264622"/>
            <a:ext cx="2583984" cy="15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xốp tối ưu hóa tích hợp xương</a:t>
            </a:r>
            <a:endParaRPr lang="en-US" sz="938" dirty="0"/>
          </a:p>
        </p:txBody>
      </p:sp>
      <p:sp>
        <p:nvSpPr>
          <p:cNvPr id="40" name="Text 19"/>
          <p:cNvSpPr txBox="1"/>
          <p:nvPr/>
        </p:nvSpPr>
        <p:spPr>
          <a:xfrm>
            <a:off x="5387429" y="8253573"/>
            <a:ext cx="358825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spc="75" kern="0" dirty="0">
                <a:solidFill>
                  <a:srgbClr val="0A3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</a:t>
            </a:r>
            <a:endParaRPr lang="en-US" sz="788" dirty="0"/>
          </a:p>
        </p:txBody>
      </p:sp>
      <p:sp>
        <p:nvSpPr>
          <p:cNvPr id="41" name="Text 20"/>
          <p:cNvSpPr txBox="1"/>
          <p:nvPr/>
        </p:nvSpPr>
        <p:spPr>
          <a:xfrm>
            <a:off x="5841504" y="8264622"/>
            <a:ext cx="1365117" cy="15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Phẫu thuật ít xâm lấn</a:t>
            </a:r>
            <a:endParaRPr lang="en-US" sz="938" dirty="0"/>
          </a:p>
        </p:txBody>
      </p:sp>
      <p:sp>
        <p:nvSpPr>
          <p:cNvPr id="42" name="Text 21"/>
          <p:cNvSpPr txBox="1"/>
          <p:nvPr/>
        </p:nvSpPr>
        <p:spPr>
          <a:xfrm>
            <a:off x="381000" y="9383268"/>
            <a:ext cx="1882083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DỊCH VỤ Y KHOA</a:t>
            </a:r>
            <a:endParaRPr lang="en-US" sz="1125" dirty="0"/>
          </a:p>
          <a:p>
            <a:pPr algn="l" indent="0" marL="0">
              <a:buNone/>
            </a:pPr>
            <a:r>
              <a:rPr lang="en-US" sz="1125" b="1" dirty="0">
                <a:solidFill>
                  <a:srgbClr val="4A9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THĂNG LONG QUỐC TẾ</a:t>
            </a:r>
            <a:endParaRPr lang="en-US" sz="1125" dirty="0"/>
          </a:p>
        </p:txBody>
      </p:sp>
      <p:sp>
        <p:nvSpPr>
          <p:cNvPr id="43" name="Text 22"/>
          <p:cNvSpPr txBox="1"/>
          <p:nvPr/>
        </p:nvSpPr>
        <p:spPr>
          <a:xfrm>
            <a:off x="381000" y="9799320"/>
            <a:ext cx="1882083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b="1" spc="75" kern="0" dirty="0">
                <a:solidFill>
                  <a:srgbClr val="4B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HOTLINE</a:t>
            </a:r>
            <a:endParaRPr lang="en-US" sz="975" dirty="0"/>
          </a:p>
        </p:txBody>
      </p:sp>
      <p:sp>
        <p:nvSpPr>
          <p:cNvPr id="44" name="Text 23"/>
          <p:cNvSpPr txBox="1"/>
          <p:nvPr/>
        </p:nvSpPr>
        <p:spPr>
          <a:xfrm>
            <a:off x="381000" y="9987153"/>
            <a:ext cx="1882083" cy="342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F4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0916 899 322</a:t>
            </a:r>
            <a:endParaRPr lang="en-US" sz="2025" dirty="0"/>
          </a:p>
        </p:txBody>
      </p:sp>
      <p:sp>
        <p:nvSpPr>
          <p:cNvPr id="45" name="Text 24"/>
          <p:cNvSpPr txBox="1"/>
          <p:nvPr/>
        </p:nvSpPr>
        <p:spPr>
          <a:xfrm>
            <a:off x="3851077" y="10206419"/>
            <a:ext cx="55768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A2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825" dirty="0"/>
          </a:p>
        </p:txBody>
      </p:sp>
      <p:sp>
        <p:nvSpPr>
          <p:cNvPr id="46" name="Text 25"/>
          <p:cNvSpPr txBox="1"/>
          <p:nvPr/>
        </p:nvSpPr>
        <p:spPr>
          <a:xfrm>
            <a:off x="4883348" y="10206419"/>
            <a:ext cx="245674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A2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Zalo</a:t>
            </a:r>
            <a:endParaRPr lang="en-US" sz="825" dirty="0"/>
          </a:p>
        </p:txBody>
      </p:sp>
      <p:sp>
        <p:nvSpPr>
          <p:cNvPr id="47" name="Text 26"/>
          <p:cNvSpPr txBox="1"/>
          <p:nvPr/>
        </p:nvSpPr>
        <p:spPr>
          <a:xfrm>
            <a:off x="5722441" y="10206419"/>
            <a:ext cx="37394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A2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825" dirty="0"/>
          </a:p>
        </p:txBody>
      </p:sp>
      <p:sp>
        <p:nvSpPr>
          <p:cNvPr id="48" name="Text 27"/>
          <p:cNvSpPr txBox="1"/>
          <p:nvPr/>
        </p:nvSpPr>
        <p:spPr>
          <a:xfrm>
            <a:off x="6531322" y="10206419"/>
            <a:ext cx="57092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A2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Tờ rơi VOA - Thăng Long Quốc Tế</dc:title>
  <dc:subject>PptxGenJS Presentation</dc:subject>
  <dc:creator>PptxGenJS</dc:creator>
  <cp:lastModifiedBy>PptxGenJS</cp:lastModifiedBy>
  <cp:revision>1</cp:revision>
  <dcterms:created xsi:type="dcterms:W3CDTF">2026-09-28T21:11:14Z</dcterms:created>
  <dcterms:modified xsi:type="dcterms:W3CDTF">2026-09-28T21:11:14Z</dcterms:modified>
</cp:coreProperties>
</file>